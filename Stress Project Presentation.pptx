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2"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4" autoAdjust="0"/>
    <p:restoredTop sz="94624" autoAdjust="0"/>
  </p:normalViewPr>
  <p:slideViewPr>
    <p:cSldViewPr>
      <p:cViewPr>
        <p:scale>
          <a:sx n="70" d="100"/>
          <a:sy n="70" d="100"/>
        </p:scale>
        <p:origin x="-137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CE8CD5-E929-4443-9B9C-D101301E1546}" type="datetimeFigureOut">
              <a:rPr lang="en-US" smtClean="0"/>
              <a:pPr/>
              <a:t>21-Apr-22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CE8CD5-E929-4443-9B9C-D101301E1546}" type="datetimeFigureOut">
              <a:rPr lang="en-US" smtClean="0"/>
              <a:pPr/>
              <a:t>21-Apr-22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CE8CD5-E929-4443-9B9C-D101301E1546}" type="datetimeFigureOut">
              <a:rPr lang="en-US" smtClean="0"/>
              <a:pPr/>
              <a:t>21-Apr-22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CE8CD5-E929-4443-9B9C-D101301E1546}" type="datetimeFigureOut">
              <a:rPr lang="en-US" smtClean="0"/>
              <a:pPr/>
              <a:t>21-Apr-22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CE8CD5-E929-4443-9B9C-D101301E1546}" type="datetimeFigureOut">
              <a:rPr lang="en-US" smtClean="0"/>
              <a:pPr/>
              <a:t>21-Apr-22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2CE8CD5-E929-4443-9B9C-D101301E1546}" type="datetimeFigureOut">
              <a:rPr lang="en-US" smtClean="0"/>
              <a:pPr/>
              <a:t>21-Apr-22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CE8CD5-E929-4443-9B9C-D101301E1546}" type="datetimeFigureOut">
              <a:rPr lang="en-US" smtClean="0"/>
              <a:pPr/>
              <a:t>21-Apr-22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E8CD5-E929-4443-9B9C-D101301E1546}" type="datetimeFigureOut">
              <a:rPr lang="en-US" smtClean="0"/>
              <a:pPr/>
              <a:t>21-Apr-22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CE8CD5-E929-4443-9B9C-D101301E1546}" type="datetimeFigureOut">
              <a:rPr lang="en-US" smtClean="0"/>
              <a:pPr/>
              <a:t>21-Apr-22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CE8CD5-E929-4443-9B9C-D101301E1546}" type="datetimeFigureOut">
              <a:rPr lang="en-US" smtClean="0"/>
              <a:pPr/>
              <a:t>21-Apr-22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CE8CD5-E929-4443-9B9C-D101301E1546}" type="datetimeFigureOut">
              <a:rPr lang="en-US" smtClean="0"/>
              <a:pPr/>
              <a:t>21-Apr-22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1DF88-6991-4B0F-BE68-9CA976A8F2B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E8CD5-E929-4443-9B9C-D101301E1546}" type="datetimeFigureOut">
              <a:rPr lang="en-US" smtClean="0"/>
              <a:pPr/>
              <a:t>21-Apr-22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31DF88-6991-4B0F-BE68-9CA976A8F2B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0"/>
            <a:ext cx="8229600" cy="1143000"/>
          </a:xfrm>
        </p:spPr>
        <p:txBody>
          <a:bodyPr>
            <a:normAutofit fontScale="90000"/>
          </a:bodyPr>
          <a:lstStyle/>
          <a:p>
            <a:r>
              <a:rPr lang="en-US" sz="2800" b="1" dirty="0" smtClean="0">
                <a:latin typeface="Times New Roman" pitchFamily="18" charset="0"/>
                <a:cs typeface="Times New Roman" pitchFamily="18" charset="0"/>
              </a:rPr>
              <a:t>A STUDY OF LEVEL </a:t>
            </a:r>
            <a:r>
              <a:rPr lang="en-US" sz="2800" b="1" dirty="0">
                <a:latin typeface="Times New Roman" pitchFamily="18" charset="0"/>
                <a:cs typeface="Times New Roman" pitchFamily="18" charset="0"/>
              </a:rPr>
              <a:t>OF STRESS AMONG THE NON -                                                                                             </a:t>
            </a:r>
            <a:r>
              <a:rPr lang="en-US" sz="3100" b="1" dirty="0">
                <a:latin typeface="Times New Roman" pitchFamily="18" charset="0"/>
                <a:cs typeface="Times New Roman" pitchFamily="18" charset="0"/>
              </a:rPr>
              <a:t>TEACHING</a:t>
            </a:r>
            <a:r>
              <a:rPr lang="en-US" sz="2800" b="1" dirty="0">
                <a:latin typeface="Times New Roman" pitchFamily="18" charset="0"/>
                <a:cs typeface="Times New Roman" pitchFamily="18" charset="0"/>
              </a:rPr>
              <a:t> STAFF OF PATNA </a:t>
            </a:r>
            <a:r>
              <a:rPr lang="en-US" sz="2800" b="1" dirty="0" smtClean="0">
                <a:latin typeface="Times New Roman" pitchFamily="18" charset="0"/>
                <a:cs typeface="Times New Roman" pitchFamily="18" charset="0"/>
              </a:rPr>
              <a:t>UNIVERSIY</a:t>
            </a:r>
            <a:br>
              <a:rPr lang="en-US" sz="2800" b="1" dirty="0" smtClean="0">
                <a:latin typeface="Times New Roman" pitchFamily="18" charset="0"/>
                <a:cs typeface="Times New Roman" pitchFamily="18" charset="0"/>
              </a:rPr>
            </a:br>
            <a:r>
              <a:rPr lang="en-US" sz="2800" b="1" dirty="0">
                <a:latin typeface="Times New Roman" pitchFamily="18" charset="0"/>
                <a:cs typeface="Times New Roman" pitchFamily="18" charset="0"/>
              </a:rPr>
              <a:t/>
            </a:r>
            <a:br>
              <a:rPr lang="en-US" sz="2800" b="1" dirty="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2971800"/>
            <a:ext cx="8229600" cy="2438400"/>
          </a:xfrm>
        </p:spPr>
        <p:txBody>
          <a:bodyPr>
            <a:normAutofit/>
          </a:bodyPr>
          <a:lstStyle/>
          <a:p>
            <a:pPr>
              <a:buNone/>
            </a:pPr>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Bittu</a:t>
            </a:r>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Vikash</a:t>
            </a:r>
            <a:endParaRPr lang="en-US" sz="2000" b="1"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Department of Psychology, B. N. College</a:t>
            </a:r>
          </a:p>
          <a:p>
            <a:pPr>
              <a:buNone/>
            </a:pPr>
            <a:r>
              <a:rPr lang="en-US" sz="2000" b="1" dirty="0">
                <a:latin typeface="Times New Roman" pitchFamily="18" charset="0"/>
                <a:cs typeface="Times New Roman" pitchFamily="18" charset="0"/>
              </a:rPr>
              <a:t> </a:t>
            </a:r>
            <a:r>
              <a:rPr lang="en-US" sz="2000" b="1" dirty="0" smtClean="0">
                <a:latin typeface="Times New Roman" pitchFamily="18" charset="0"/>
                <a:cs typeface="Times New Roman" pitchFamily="18" charset="0"/>
              </a:rPr>
              <a:t>     Patna University, Patna.</a:t>
            </a:r>
          </a:p>
        </p:txBody>
      </p:sp>
    </p:spTree>
  </p:cSld>
  <p:clrMapOvr>
    <a:masterClrMapping/>
  </p:clrMapOvr>
  <p:transition>
    <p:randomBa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Introduction</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2000" b="1" dirty="0"/>
              <a:t>Stress</a:t>
            </a:r>
            <a:r>
              <a:rPr lang="en-US" sz="2000" dirty="0"/>
              <a:t> has been defined in different ways over the years. Originally, it was conceived of as pressure from the environment, then as strain within the person. The generally accepted definition today is one of interaction between the situation and the individual. Hans </a:t>
            </a:r>
            <a:r>
              <a:rPr lang="en-US" sz="2000" dirty="0" err="1"/>
              <a:t>Selye</a:t>
            </a:r>
            <a:r>
              <a:rPr lang="en-US" sz="2000" dirty="0"/>
              <a:t> (1956) defines stress as “any external event or any internal drive which threaten to upset the organism equilibrium is stress". </a:t>
            </a:r>
          </a:p>
          <a:p>
            <a:pPr>
              <a:buNone/>
            </a:pPr>
            <a:r>
              <a:rPr lang="en-US" sz="2000" dirty="0"/>
              <a:t> </a:t>
            </a:r>
          </a:p>
          <a:p>
            <a:r>
              <a:rPr lang="en-US" sz="2000" dirty="0"/>
              <a:t>Stress is a condition or feeling experienced when a person perceives that demands exceed the personal and social resources the individual is able to mobilize. It is the psychological and physical state that results when the resources of the individual are not sufficient to cope with the demands and pressures of the situation. Thus, stress is </a:t>
            </a:r>
            <a:r>
              <a:rPr lang="en-US" sz="2000" dirty="0" smtClean="0"/>
              <a:t>more </a:t>
            </a:r>
            <a:r>
              <a:rPr lang="en-US" sz="2000" dirty="0"/>
              <a:t>likely in some situations than others and in some individuals than others. Stress can undermine the achievement of goals, both for individuals and for organizations. </a:t>
            </a:r>
          </a:p>
          <a:p>
            <a:endParaRPr lang="en-US" sz="2000" dirty="0">
              <a:latin typeface="Times New Roman" pitchFamily="18" charset="0"/>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Review of Literature</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sz="2000" b="1" dirty="0"/>
              <a:t>Ashcraft and Kirk (2001)</a:t>
            </a:r>
            <a:r>
              <a:rPr lang="en-US" sz="2000" dirty="0"/>
              <a:t> also reported that individuals high in anxiety tend to be slower and more deliberate in their processing of various aspects of mathematical functions</a:t>
            </a:r>
            <a:r>
              <a:rPr lang="en-US" sz="2000" dirty="0" smtClean="0"/>
              <a:t>.</a:t>
            </a:r>
          </a:p>
          <a:p>
            <a:r>
              <a:rPr lang="en-US" sz="2000" dirty="0"/>
              <a:t>Anxiety is the most common stress condition by which memory researchers </a:t>
            </a:r>
            <a:r>
              <a:rPr lang="en-US" sz="2000" dirty="0" smtClean="0"/>
              <a:t>have </a:t>
            </a:r>
            <a:r>
              <a:rPr lang="en-US" sz="2000" dirty="0"/>
              <a:t>examined memory performance </a:t>
            </a:r>
            <a:r>
              <a:rPr lang="en-US" sz="2000" b="1" dirty="0"/>
              <a:t>(Eysenck,1979 ; 1985</a:t>
            </a:r>
            <a:r>
              <a:rPr lang="en-US" sz="2000" b="1" dirty="0" smtClean="0"/>
              <a:t>)</a:t>
            </a:r>
            <a:r>
              <a:rPr lang="en-US" sz="2000" dirty="0" smtClean="0"/>
              <a:t>.</a:t>
            </a:r>
          </a:p>
          <a:p>
            <a:r>
              <a:rPr lang="en-US" sz="2000" b="1" dirty="0" err="1"/>
              <a:t>Pareek</a:t>
            </a:r>
            <a:r>
              <a:rPr lang="en-US" sz="2000" b="1" dirty="0"/>
              <a:t> (1983) </a:t>
            </a:r>
            <a:r>
              <a:rPr lang="en-US" sz="2000" dirty="0"/>
              <a:t>pioneered work on the role stress by </a:t>
            </a:r>
            <a:r>
              <a:rPr lang="en-US" sz="2000" dirty="0" smtClean="0"/>
              <a:t>identifying </a:t>
            </a:r>
            <a:r>
              <a:rPr lang="en-US" sz="2000" dirty="0"/>
              <a:t>different types of organizational roles stresses</a:t>
            </a:r>
            <a:r>
              <a:rPr lang="en-US" sz="2000" dirty="0" smtClean="0"/>
              <a:t>.</a:t>
            </a:r>
          </a:p>
          <a:p>
            <a:r>
              <a:rPr lang="en-US" sz="2000" b="1" dirty="0"/>
              <a:t>Wager, Feldman, Hussy (2003)</a:t>
            </a:r>
            <a:r>
              <a:rPr lang="en-US" sz="2000" dirty="0"/>
              <a:t> found that employees who worked under two differently perceived supervisors in the same workplace has significant health effects. Some studies has identified links between problematic characteristic of work and an increased risk of cardiovascular disease effect with bullying and harsh supervision, and lower the blood pressure working with a </a:t>
            </a:r>
            <a:r>
              <a:rPr lang="en-US" sz="2000" dirty="0" err="1"/>
              <a:t>favourably</a:t>
            </a:r>
            <a:r>
              <a:rPr lang="en-US" sz="2000" dirty="0"/>
              <a:t> perceived supervisor </a:t>
            </a:r>
            <a:r>
              <a:rPr lang="en-US" sz="2000" b="1" dirty="0"/>
              <a:t>(</a:t>
            </a:r>
            <a:r>
              <a:rPr lang="en-US" sz="2000" b="1" dirty="0" err="1"/>
              <a:t>Bosma</a:t>
            </a:r>
            <a:r>
              <a:rPr lang="en-US" sz="2000" b="1" dirty="0"/>
              <a:t> et al., 1998</a:t>
            </a:r>
            <a:r>
              <a:rPr lang="en-US" sz="2000" b="1" dirty="0" smtClean="0"/>
              <a:t>)</a:t>
            </a:r>
            <a:r>
              <a:rPr lang="en-US" sz="2000" dirty="0" smtClean="0"/>
              <a:t>.</a:t>
            </a:r>
          </a:p>
          <a:p>
            <a:r>
              <a:rPr lang="en-US" sz="2000" dirty="0"/>
              <a:t>A comparative study of job stress of among Government and Private Employees reported that the private employees have more job stress than the Government employees (</a:t>
            </a:r>
            <a:r>
              <a:rPr lang="en-US" sz="2000" b="1" dirty="0" err="1"/>
              <a:t>Rajubhai</a:t>
            </a:r>
            <a:r>
              <a:rPr lang="en-US" sz="2000" b="1" dirty="0"/>
              <a:t> </a:t>
            </a:r>
            <a:r>
              <a:rPr lang="en-US" sz="2000" b="1" dirty="0" err="1"/>
              <a:t>Rana</a:t>
            </a:r>
            <a:r>
              <a:rPr lang="en-US" sz="2000" b="1" dirty="0"/>
              <a:t>, 2014)</a:t>
            </a:r>
            <a:r>
              <a:rPr lang="en-US" sz="2000" dirty="0"/>
              <a:t>.</a:t>
            </a:r>
            <a:endParaRPr lang="en-US" sz="2000" dirty="0">
              <a:latin typeface="Times New Roman" pitchFamily="18" charset="0"/>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Hypothesis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endParaRPr lang="en-US" sz="2000" b="1" dirty="0" smtClean="0"/>
          </a:p>
          <a:p>
            <a:r>
              <a:rPr lang="en-US" sz="2000" b="1" dirty="0" smtClean="0"/>
              <a:t>H1</a:t>
            </a:r>
            <a:r>
              <a:rPr lang="en-US" sz="2000" dirty="0"/>
              <a:t>.  The level of anxiety among the staff would be moderate.</a:t>
            </a:r>
          </a:p>
          <a:p>
            <a:endParaRPr lang="en-US" sz="2000" b="1" dirty="0" smtClean="0"/>
          </a:p>
          <a:p>
            <a:r>
              <a:rPr lang="en-US" sz="2000" b="1" dirty="0" smtClean="0"/>
              <a:t>H2</a:t>
            </a:r>
            <a:r>
              <a:rPr lang="en-US" sz="2000" dirty="0"/>
              <a:t>. The level of frustration among the staff would be high.</a:t>
            </a:r>
          </a:p>
          <a:p>
            <a:endParaRPr lang="en-US" sz="2000" b="1" dirty="0" smtClean="0"/>
          </a:p>
          <a:p>
            <a:r>
              <a:rPr lang="en-US" sz="2000" b="1" dirty="0" smtClean="0"/>
              <a:t>H3</a:t>
            </a:r>
            <a:r>
              <a:rPr lang="en-US" sz="2000" dirty="0"/>
              <a:t>. There would be a positive correlation between anxiety and frustration.</a:t>
            </a:r>
          </a:p>
          <a:p>
            <a:endParaRPr lang="en-US" sz="2000" dirty="0"/>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Methodology</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lvl="0"/>
            <a:r>
              <a:rPr lang="en-US" sz="2000" dirty="0" smtClean="0"/>
              <a:t>A survey was conducted among 22 employees of Patna University.</a:t>
            </a:r>
          </a:p>
          <a:p>
            <a:r>
              <a:rPr lang="en-US" sz="2000" b="1" dirty="0"/>
              <a:t>TOOL – </a:t>
            </a:r>
            <a:r>
              <a:rPr lang="en-US" sz="2000" dirty="0"/>
              <a:t>The tool used for the survey is</a:t>
            </a:r>
            <a:r>
              <a:rPr lang="en-US" sz="2000" b="1" dirty="0"/>
              <a:t> Stress scale SS-LVNS</a:t>
            </a:r>
            <a:r>
              <a:rPr lang="en-US" sz="2000" dirty="0"/>
              <a:t> questionnaire</a:t>
            </a:r>
            <a:r>
              <a:rPr lang="en-US" sz="2000" dirty="0" smtClean="0"/>
              <a:t>.</a:t>
            </a:r>
          </a:p>
          <a:p>
            <a:r>
              <a:rPr lang="en-US" sz="2000" dirty="0" smtClean="0"/>
              <a:t>Creator - Dr. </a:t>
            </a:r>
            <a:r>
              <a:rPr lang="en-US" sz="2000" dirty="0" err="1" smtClean="0"/>
              <a:t>Vijaya</a:t>
            </a:r>
            <a:r>
              <a:rPr lang="en-US" sz="2000" dirty="0" smtClean="0"/>
              <a:t> </a:t>
            </a:r>
            <a:r>
              <a:rPr lang="en-US" sz="2000" dirty="0" err="1" smtClean="0"/>
              <a:t>Laxmi</a:t>
            </a:r>
            <a:r>
              <a:rPr lang="en-US" sz="2000" dirty="0" smtClean="0"/>
              <a:t> and Dr. </a:t>
            </a:r>
            <a:r>
              <a:rPr lang="en-US" sz="2000" dirty="0" err="1" smtClean="0"/>
              <a:t>Shruti</a:t>
            </a:r>
            <a:r>
              <a:rPr lang="en-US" sz="2000" dirty="0" smtClean="0"/>
              <a:t> </a:t>
            </a:r>
            <a:r>
              <a:rPr lang="en-US" sz="2000" dirty="0" err="1" smtClean="0"/>
              <a:t>Narain</a:t>
            </a:r>
            <a:r>
              <a:rPr lang="en-US" sz="2000" dirty="0" smtClean="0"/>
              <a:t>.</a:t>
            </a:r>
          </a:p>
          <a:p>
            <a:r>
              <a:rPr lang="en-US" sz="2000" dirty="0" smtClean="0"/>
              <a:t>Dimensions – The scale measures 4 dimensions. They are Anxiety, Frustration, Pressure and Physical Stress.</a:t>
            </a:r>
          </a:p>
          <a:p>
            <a:r>
              <a:rPr lang="en-US" sz="2000" dirty="0" smtClean="0"/>
              <a:t>Scoring - </a:t>
            </a:r>
            <a:r>
              <a:rPr lang="en-US" sz="2000" dirty="0"/>
              <a:t>The answers of those items which tally with the answers given in the scoring key are given a score of +1. If they did not tally, they were given a score of zero. Positive items are given a score of +1 on ‘Yes’ and zero on ‘No’ and negative items are given +1 on ‘No’ and zero on ‘Yes’. Higher the score, greater is the level of stress</a:t>
            </a:r>
            <a:r>
              <a:rPr lang="en-US" sz="2000" dirty="0" smtClean="0"/>
              <a:t>.</a:t>
            </a:r>
          </a:p>
          <a:p>
            <a:r>
              <a:rPr lang="en-US" sz="2000" dirty="0" smtClean="0"/>
              <a:t>Data Collection Procedure – Purposive sampling Method. </a:t>
            </a:r>
          </a:p>
          <a:p>
            <a:r>
              <a:rPr lang="en-US" sz="2000" dirty="0" smtClean="0"/>
              <a:t>Statistical analysis – For analyzing the level of stress, we use Mean scores and Correlation methods.</a:t>
            </a:r>
            <a:endParaRPr lang="en-US" sz="2000" dirty="0"/>
          </a:p>
          <a:p>
            <a:endParaRPr lang="en-US" sz="2000" dirty="0"/>
          </a:p>
        </p:txBody>
      </p:sp>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Results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US" sz="2000" b="1" dirty="0"/>
              <a:t> </a:t>
            </a:r>
            <a:r>
              <a:rPr lang="en-US" sz="2000" b="1" dirty="0" smtClean="0"/>
              <a:t>                                                          </a:t>
            </a:r>
            <a:endParaRPr lang="en-US" sz="2000" b="1" dirty="0"/>
          </a:p>
          <a:p>
            <a:pPr>
              <a:buNone/>
            </a:pPr>
            <a:r>
              <a:rPr lang="en-US" sz="2000" b="1" dirty="0" smtClean="0"/>
              <a:t>                                                      Table – 1 (Anxiety)</a:t>
            </a:r>
          </a:p>
          <a:p>
            <a:pPr>
              <a:buNone/>
            </a:pPr>
            <a:endParaRPr lang="en-US" sz="2000" b="1" dirty="0"/>
          </a:p>
          <a:p>
            <a:pPr>
              <a:buNone/>
            </a:pPr>
            <a:endParaRPr lang="en-US" sz="2000" b="1" dirty="0" smtClean="0"/>
          </a:p>
          <a:p>
            <a:pPr>
              <a:buNone/>
            </a:pPr>
            <a:endParaRPr lang="en-US" sz="2000" b="1" dirty="0"/>
          </a:p>
          <a:p>
            <a:pPr>
              <a:buNone/>
            </a:pPr>
            <a:endParaRPr lang="en-US" sz="2000" b="1" dirty="0" smtClean="0"/>
          </a:p>
          <a:p>
            <a:pPr>
              <a:buNone/>
            </a:pPr>
            <a:endParaRPr lang="en-US" sz="2000" b="1" dirty="0"/>
          </a:p>
          <a:p>
            <a:pPr>
              <a:buNone/>
            </a:pPr>
            <a:endParaRPr lang="en-US" sz="2000" b="1" dirty="0" smtClean="0"/>
          </a:p>
          <a:p>
            <a:pPr>
              <a:buNone/>
            </a:pPr>
            <a:r>
              <a:rPr lang="en-US" sz="2000" b="1" dirty="0"/>
              <a:t> </a:t>
            </a:r>
            <a:r>
              <a:rPr lang="en-US" sz="2000" b="1" dirty="0" smtClean="0"/>
              <a:t>        </a:t>
            </a:r>
            <a:r>
              <a:rPr lang="en-US" sz="2000" dirty="0" smtClean="0"/>
              <a:t>After the interpretation of Table – 1 , we can say that level of anxiety </a:t>
            </a:r>
          </a:p>
          <a:p>
            <a:pPr>
              <a:buNone/>
            </a:pPr>
            <a:r>
              <a:rPr lang="en-US" sz="2000" dirty="0"/>
              <a:t> </a:t>
            </a:r>
            <a:r>
              <a:rPr lang="en-US" sz="2000" dirty="0" smtClean="0"/>
              <a:t>        among the employees of Patna University is moderate.</a:t>
            </a:r>
            <a:endParaRPr lang="en-US" sz="2000" b="1" dirty="0" smtClean="0"/>
          </a:p>
          <a:p>
            <a:pPr>
              <a:buNone/>
            </a:pPr>
            <a:endParaRPr lang="en-US" sz="2000" b="1" dirty="0"/>
          </a:p>
          <a:p>
            <a:pPr>
              <a:buNone/>
            </a:pPr>
            <a:endParaRPr lang="en-US" sz="2000" dirty="0"/>
          </a:p>
        </p:txBody>
      </p:sp>
      <p:graphicFrame>
        <p:nvGraphicFramePr>
          <p:cNvPr id="5" name="Table 4"/>
          <p:cNvGraphicFramePr>
            <a:graphicFrameLocks noGrp="1"/>
          </p:cNvGraphicFramePr>
          <p:nvPr/>
        </p:nvGraphicFramePr>
        <p:xfrm>
          <a:off x="1295400" y="2895600"/>
          <a:ext cx="6477000" cy="1219200"/>
        </p:xfrm>
        <a:graphic>
          <a:graphicData uri="http://schemas.openxmlformats.org/drawingml/2006/table">
            <a:tbl>
              <a:tblPr firstRow="1" bandRow="1">
                <a:tableStyleId>{5C22544A-7EE6-4342-B048-85BDC9FD1C3A}</a:tableStyleId>
              </a:tblPr>
              <a:tblGrid>
                <a:gridCol w="2159000"/>
                <a:gridCol w="2159000"/>
                <a:gridCol w="2159000"/>
              </a:tblGrid>
              <a:tr h="609600">
                <a:tc>
                  <a:txBody>
                    <a:bodyPr/>
                    <a:lstStyle/>
                    <a:p>
                      <a:r>
                        <a:rPr lang="en-US" dirty="0" smtClean="0"/>
                        <a:t>            N</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c>
                  <a:txBody>
                    <a:bodyPr/>
                    <a:lstStyle/>
                    <a:p>
                      <a:r>
                        <a:rPr lang="en-US" dirty="0" smtClean="0"/>
                        <a:t>            Mean</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c>
                  <a:txBody>
                    <a:bodyPr/>
                    <a:lstStyle/>
                    <a:p>
                      <a:r>
                        <a:rPr lang="en-US" dirty="0" smtClean="0"/>
                        <a:t>        Remark</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r>
              <a:tr h="609600">
                <a:tc>
                  <a:txBody>
                    <a:bodyPr/>
                    <a:lstStyle/>
                    <a:p>
                      <a:r>
                        <a:rPr lang="en-US" dirty="0" smtClean="0"/>
                        <a:t>           22</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4</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Moderate</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r>
            </a:tbl>
          </a:graphicData>
        </a:graphic>
      </p:graphicFrame>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Results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US" sz="2000" dirty="0" smtClean="0"/>
              <a:t>        </a:t>
            </a:r>
          </a:p>
          <a:p>
            <a:pPr>
              <a:buNone/>
            </a:pPr>
            <a:r>
              <a:rPr lang="en-US" sz="2000" dirty="0"/>
              <a:t> </a:t>
            </a:r>
            <a:r>
              <a:rPr lang="en-US" sz="2000" dirty="0" smtClean="0"/>
              <a:t>                                                 </a:t>
            </a:r>
            <a:r>
              <a:rPr lang="en-US" sz="2000" b="1" dirty="0" smtClean="0"/>
              <a:t>Table – 2 ( Frustration)</a:t>
            </a:r>
          </a:p>
          <a:p>
            <a:pPr>
              <a:buNone/>
            </a:pPr>
            <a:endParaRPr lang="en-US" sz="2000" b="1" dirty="0"/>
          </a:p>
          <a:p>
            <a:pPr>
              <a:buNone/>
            </a:pPr>
            <a:endParaRPr lang="en-US" sz="2000" b="1" dirty="0" smtClean="0"/>
          </a:p>
          <a:p>
            <a:pPr>
              <a:buNone/>
            </a:pPr>
            <a:endParaRPr lang="en-US" sz="2000" b="1" dirty="0"/>
          </a:p>
          <a:p>
            <a:pPr>
              <a:buNone/>
            </a:pPr>
            <a:endParaRPr lang="en-US" sz="2000" b="1" dirty="0" smtClean="0"/>
          </a:p>
          <a:p>
            <a:pPr>
              <a:buNone/>
            </a:pPr>
            <a:endParaRPr lang="en-US" sz="2000" b="1" dirty="0"/>
          </a:p>
          <a:p>
            <a:pPr>
              <a:buNone/>
            </a:pPr>
            <a:endParaRPr lang="en-US" sz="2000" b="1" dirty="0" smtClean="0"/>
          </a:p>
          <a:p>
            <a:pPr>
              <a:buNone/>
            </a:pPr>
            <a:r>
              <a:rPr lang="en-US" sz="2000" b="1" dirty="0" smtClean="0"/>
              <a:t>          </a:t>
            </a:r>
            <a:r>
              <a:rPr lang="en-US" sz="2000" dirty="0" smtClean="0"/>
              <a:t>After the interpretation of Table – 2 , we can say that level of frustration </a:t>
            </a:r>
          </a:p>
          <a:p>
            <a:pPr>
              <a:buNone/>
            </a:pPr>
            <a:r>
              <a:rPr lang="en-US" sz="2000" dirty="0" smtClean="0"/>
              <a:t>           among the employees of Patna University is moderate.</a:t>
            </a:r>
            <a:endParaRPr lang="en-US" sz="2000" dirty="0"/>
          </a:p>
        </p:txBody>
      </p:sp>
      <p:graphicFrame>
        <p:nvGraphicFramePr>
          <p:cNvPr id="4" name="Table 3"/>
          <p:cNvGraphicFramePr>
            <a:graphicFrameLocks noGrp="1"/>
          </p:cNvGraphicFramePr>
          <p:nvPr/>
        </p:nvGraphicFramePr>
        <p:xfrm>
          <a:off x="1295400" y="2895600"/>
          <a:ext cx="6477000" cy="1219200"/>
        </p:xfrm>
        <a:graphic>
          <a:graphicData uri="http://schemas.openxmlformats.org/drawingml/2006/table">
            <a:tbl>
              <a:tblPr firstRow="1" bandRow="1">
                <a:tableStyleId>{5C22544A-7EE6-4342-B048-85BDC9FD1C3A}</a:tableStyleId>
              </a:tblPr>
              <a:tblGrid>
                <a:gridCol w="2159000"/>
                <a:gridCol w="2159000"/>
                <a:gridCol w="2159000"/>
              </a:tblGrid>
              <a:tr h="609600">
                <a:tc>
                  <a:txBody>
                    <a:bodyPr/>
                    <a:lstStyle/>
                    <a:p>
                      <a:r>
                        <a:rPr lang="en-US" dirty="0" smtClean="0"/>
                        <a:t>             N</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c>
                  <a:txBody>
                    <a:bodyPr/>
                    <a:lstStyle/>
                    <a:p>
                      <a:r>
                        <a:rPr lang="en-US" dirty="0" smtClean="0"/>
                        <a:t>             Mean</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c>
                  <a:txBody>
                    <a:bodyPr/>
                    <a:lstStyle/>
                    <a:p>
                      <a:r>
                        <a:rPr lang="en-US" dirty="0" smtClean="0"/>
                        <a:t>        Remark</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r>
              <a:tr h="609600">
                <a:tc>
                  <a:txBody>
                    <a:bodyPr/>
                    <a:lstStyle/>
                    <a:p>
                      <a:r>
                        <a:rPr lang="en-US" dirty="0" smtClean="0"/>
                        <a:t>            22</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2.5</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Moderate</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r>
            </a:tbl>
          </a:graphicData>
        </a:graphic>
      </p:graphicFrame>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Results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US" sz="2000" dirty="0" smtClean="0"/>
              <a:t>                                                 </a:t>
            </a:r>
            <a:r>
              <a:rPr lang="en-US" sz="2000" b="1" dirty="0" smtClean="0"/>
              <a:t>Table – 3 ( Correlation)</a:t>
            </a:r>
            <a:endParaRPr lang="en-US" sz="2000" dirty="0" smtClean="0"/>
          </a:p>
          <a:p>
            <a:pPr>
              <a:buNone/>
            </a:pPr>
            <a:endParaRPr lang="en-US" sz="2000" dirty="0"/>
          </a:p>
          <a:p>
            <a:pPr>
              <a:buNone/>
            </a:pPr>
            <a:endParaRPr lang="en-US" sz="2000" dirty="0" smtClean="0"/>
          </a:p>
          <a:p>
            <a:pPr>
              <a:buNone/>
            </a:pPr>
            <a:endParaRPr lang="en-US" sz="2000" dirty="0"/>
          </a:p>
          <a:p>
            <a:pPr>
              <a:buNone/>
            </a:pPr>
            <a:endParaRPr lang="en-US" sz="2000" dirty="0" smtClean="0"/>
          </a:p>
          <a:p>
            <a:pPr>
              <a:buNone/>
            </a:pPr>
            <a:endParaRPr lang="en-US" sz="2000" dirty="0"/>
          </a:p>
          <a:p>
            <a:pPr>
              <a:buNone/>
            </a:pPr>
            <a:r>
              <a:rPr lang="en-US" sz="2000" dirty="0" smtClean="0"/>
              <a:t>   </a:t>
            </a:r>
          </a:p>
          <a:p>
            <a:pPr>
              <a:buNone/>
            </a:pPr>
            <a:r>
              <a:rPr lang="en-US" sz="1600" dirty="0" smtClean="0"/>
              <a:t>                           </a:t>
            </a:r>
            <a:r>
              <a:rPr lang="en-US" sz="1600" dirty="0"/>
              <a:t>** Correlation is significant at 0.01 level. </a:t>
            </a:r>
            <a:endParaRPr lang="en-US" sz="1600" dirty="0" smtClean="0"/>
          </a:p>
          <a:p>
            <a:pPr>
              <a:buNone/>
            </a:pPr>
            <a:r>
              <a:rPr lang="en-US" sz="2000" dirty="0" smtClean="0"/>
              <a:t>         </a:t>
            </a:r>
          </a:p>
          <a:p>
            <a:pPr>
              <a:buNone/>
            </a:pPr>
            <a:r>
              <a:rPr lang="en-US" sz="2000" dirty="0"/>
              <a:t> </a:t>
            </a:r>
            <a:r>
              <a:rPr lang="en-US" sz="2000" dirty="0" smtClean="0"/>
              <a:t>         After the interpretation of Table – 3 , we can say that there is a positive</a:t>
            </a:r>
          </a:p>
          <a:p>
            <a:pPr>
              <a:buNone/>
            </a:pPr>
            <a:r>
              <a:rPr lang="en-US" sz="2000" dirty="0"/>
              <a:t> </a:t>
            </a:r>
            <a:r>
              <a:rPr lang="en-US" sz="2000" dirty="0" smtClean="0"/>
              <a:t>         correlation between Anxiety and frustration</a:t>
            </a:r>
            <a:r>
              <a:rPr lang="en-US" sz="2000" dirty="0"/>
              <a:t>.</a:t>
            </a:r>
            <a:endParaRPr lang="en-US" sz="2000" dirty="0" smtClean="0"/>
          </a:p>
        </p:txBody>
      </p:sp>
      <p:graphicFrame>
        <p:nvGraphicFramePr>
          <p:cNvPr id="4" name="Table 3"/>
          <p:cNvGraphicFramePr>
            <a:graphicFrameLocks noGrp="1"/>
          </p:cNvGraphicFramePr>
          <p:nvPr/>
        </p:nvGraphicFramePr>
        <p:xfrm>
          <a:off x="1219200" y="2286000"/>
          <a:ext cx="6705600" cy="1849120"/>
        </p:xfrm>
        <a:graphic>
          <a:graphicData uri="http://schemas.openxmlformats.org/drawingml/2006/table">
            <a:tbl>
              <a:tblPr firstRow="1" bandRow="1">
                <a:tableStyleId>{5C22544A-7EE6-4342-B048-85BDC9FD1C3A}</a:tableStyleId>
              </a:tblPr>
              <a:tblGrid>
                <a:gridCol w="1233214"/>
                <a:gridCol w="2119586"/>
                <a:gridCol w="1676400"/>
                <a:gridCol w="1676400"/>
              </a:tblGrid>
              <a:tr h="152400">
                <a:tc>
                  <a:txBody>
                    <a:bodyPr/>
                    <a:lstStyle/>
                    <a:p>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c>
                  <a:txBody>
                    <a:bodyPr/>
                    <a:lstStyle/>
                    <a:p>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c>
                  <a:txBody>
                    <a:bodyPr/>
                    <a:lstStyle/>
                    <a:p>
                      <a:r>
                        <a:rPr lang="en-US" dirty="0" smtClean="0"/>
                        <a:t>      Anxiety</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c>
                  <a:txBody>
                    <a:bodyPr/>
                    <a:lstStyle/>
                    <a:p>
                      <a:r>
                        <a:rPr lang="en-US" dirty="0" smtClean="0"/>
                        <a:t>   Frustration  </a:t>
                      </a:r>
                      <a:endParaRPr lang="en-US" dirty="0"/>
                    </a:p>
                  </a:txBody>
                  <a:tc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tcPr>
                </a:tc>
              </a:tr>
              <a:tr h="370840">
                <a:tc rowSpan="2">
                  <a:txBody>
                    <a:bodyPr/>
                    <a:lstStyle/>
                    <a:p>
                      <a:r>
                        <a:rPr lang="en-US" dirty="0" smtClean="0"/>
                        <a:t> Anxiety</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sz="1600" dirty="0" smtClean="0"/>
                        <a:t>Pearson</a:t>
                      </a:r>
                      <a:r>
                        <a:rPr lang="en-US" sz="1600" baseline="0" dirty="0" smtClean="0"/>
                        <a:t> Correlation</a:t>
                      </a:r>
                      <a:endParaRPr lang="en-US" sz="1600"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1.000</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0.576</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r>
              <a:tr h="370840">
                <a:tc vMerge="1">
                  <a:txBody>
                    <a:bodyPr/>
                    <a:lstStyle/>
                    <a:p>
                      <a:endParaRPr lang="en-US" dirty="0"/>
                    </a:p>
                  </a:txBody>
                  <a:tcPr/>
                </a:tc>
                <a:tc>
                  <a:txBody>
                    <a:bodyPr/>
                    <a:lstStyle/>
                    <a:p>
                      <a:r>
                        <a:rPr lang="en-US" dirty="0" smtClean="0"/>
                        <a:t>               N</a:t>
                      </a:r>
                      <a:endParaRPr lang="en-US" dirty="0"/>
                    </a:p>
                  </a:txBody>
                  <a:tcPr>
                    <a:gradFill flip="none" rotWithShape="1">
                      <a:gsLst>
                        <a:gs pos="0">
                          <a:schemeClr val="accent1">
                            <a:tint val="20000"/>
                            <a:shade val="30000"/>
                            <a:satMod val="115000"/>
                          </a:schemeClr>
                        </a:gs>
                        <a:gs pos="50000">
                          <a:schemeClr val="accent1">
                            <a:tint val="20000"/>
                            <a:shade val="67500"/>
                            <a:satMod val="115000"/>
                          </a:schemeClr>
                        </a:gs>
                        <a:gs pos="100000">
                          <a:schemeClr val="accent1">
                            <a:tint val="20000"/>
                            <a:shade val="100000"/>
                            <a:satMod val="115000"/>
                          </a:schemeClr>
                        </a:gs>
                      </a:gsLst>
                      <a:lin ang="16200000" scaled="1"/>
                      <a:tileRect/>
                    </a:gradFill>
                  </a:tcPr>
                </a:tc>
                <a:tc>
                  <a:txBody>
                    <a:bodyPr/>
                    <a:lstStyle/>
                    <a:p>
                      <a:r>
                        <a:rPr lang="en-US" dirty="0" smtClean="0"/>
                        <a:t>         22</a:t>
                      </a:r>
                      <a:endParaRPr lang="en-US" dirty="0"/>
                    </a:p>
                  </a:txBody>
                  <a:tcPr>
                    <a:gradFill flip="none" rotWithShape="1">
                      <a:gsLst>
                        <a:gs pos="0">
                          <a:schemeClr val="accent1">
                            <a:tint val="20000"/>
                            <a:shade val="30000"/>
                            <a:satMod val="115000"/>
                          </a:schemeClr>
                        </a:gs>
                        <a:gs pos="50000">
                          <a:schemeClr val="accent1">
                            <a:tint val="20000"/>
                            <a:shade val="67500"/>
                            <a:satMod val="115000"/>
                          </a:schemeClr>
                        </a:gs>
                        <a:gs pos="100000">
                          <a:schemeClr val="accent1">
                            <a:tint val="20000"/>
                            <a:shade val="100000"/>
                            <a:satMod val="115000"/>
                          </a:schemeClr>
                        </a:gs>
                      </a:gsLst>
                      <a:lin ang="16200000" scaled="1"/>
                      <a:tileRect/>
                    </a:gradFill>
                  </a:tcPr>
                </a:tc>
                <a:tc>
                  <a:txBody>
                    <a:bodyPr/>
                    <a:lstStyle/>
                    <a:p>
                      <a:r>
                        <a:rPr lang="en-US" dirty="0" smtClean="0"/>
                        <a:t>         22</a:t>
                      </a:r>
                      <a:endParaRPr lang="en-US" dirty="0"/>
                    </a:p>
                  </a:txBody>
                  <a:tcPr>
                    <a:gradFill flip="none" rotWithShape="1">
                      <a:gsLst>
                        <a:gs pos="0">
                          <a:schemeClr val="accent1">
                            <a:tint val="20000"/>
                            <a:shade val="30000"/>
                            <a:satMod val="115000"/>
                          </a:schemeClr>
                        </a:gs>
                        <a:gs pos="50000">
                          <a:schemeClr val="accent1">
                            <a:tint val="20000"/>
                            <a:shade val="67500"/>
                            <a:satMod val="115000"/>
                          </a:schemeClr>
                        </a:gs>
                        <a:gs pos="100000">
                          <a:schemeClr val="accent1">
                            <a:tint val="20000"/>
                            <a:shade val="100000"/>
                            <a:satMod val="115000"/>
                          </a:schemeClr>
                        </a:gs>
                      </a:gsLst>
                      <a:lin ang="16200000" scaled="1"/>
                      <a:tileRect/>
                    </a:gradFill>
                  </a:tcPr>
                </a:tc>
              </a:tr>
              <a:tr h="370840">
                <a:tc rowSpan="2">
                  <a:txBody>
                    <a:bodyPr/>
                    <a:lstStyle/>
                    <a:p>
                      <a:r>
                        <a:rPr lang="en-US" dirty="0" smtClean="0"/>
                        <a:t>Frustration </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sz="1600" dirty="0" smtClean="0"/>
                        <a:t>Pearson</a:t>
                      </a:r>
                      <a:r>
                        <a:rPr lang="en-US" sz="1600" baseline="0" dirty="0" smtClean="0"/>
                        <a:t> Correlation</a:t>
                      </a:r>
                      <a:endParaRPr lang="en-US" sz="1600"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0.576</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c>
                  <a:txBody>
                    <a:bodyPr/>
                    <a:lstStyle/>
                    <a:p>
                      <a:r>
                        <a:rPr lang="en-US" dirty="0" smtClean="0"/>
                        <a:t>      1.000</a:t>
                      </a:r>
                      <a:endParaRPr lang="en-US" dirty="0"/>
                    </a:p>
                  </a:txBody>
                  <a:tcPr>
                    <a:gradFill flip="none" rotWithShape="1">
                      <a:gsLst>
                        <a:gs pos="0">
                          <a:schemeClr val="accent1">
                            <a:tint val="40000"/>
                            <a:shade val="30000"/>
                            <a:satMod val="115000"/>
                          </a:schemeClr>
                        </a:gs>
                        <a:gs pos="50000">
                          <a:schemeClr val="accent1">
                            <a:tint val="40000"/>
                            <a:shade val="67500"/>
                            <a:satMod val="115000"/>
                          </a:schemeClr>
                        </a:gs>
                        <a:gs pos="100000">
                          <a:schemeClr val="accent1">
                            <a:tint val="40000"/>
                            <a:shade val="100000"/>
                            <a:satMod val="115000"/>
                          </a:schemeClr>
                        </a:gs>
                      </a:gsLst>
                      <a:lin ang="16200000" scaled="1"/>
                      <a:tileRect/>
                    </a:gradFill>
                  </a:tcPr>
                </a:tc>
              </a:tr>
              <a:tr h="370840">
                <a:tc vMerge="1">
                  <a:txBody>
                    <a:bodyPr/>
                    <a:lstStyle/>
                    <a:p>
                      <a:endParaRPr lang="en-US" dirty="0"/>
                    </a:p>
                  </a:txBody>
                  <a:tcPr/>
                </a:tc>
                <a:tc>
                  <a:txBody>
                    <a:bodyPr/>
                    <a:lstStyle/>
                    <a:p>
                      <a:r>
                        <a:rPr lang="en-US" dirty="0" smtClean="0"/>
                        <a:t>                N</a:t>
                      </a:r>
                      <a:endParaRPr lang="en-US" dirty="0"/>
                    </a:p>
                  </a:txBody>
                  <a:tcPr>
                    <a:gradFill flip="none" rotWithShape="1">
                      <a:gsLst>
                        <a:gs pos="0">
                          <a:schemeClr val="accent1">
                            <a:tint val="20000"/>
                            <a:shade val="30000"/>
                            <a:satMod val="115000"/>
                          </a:schemeClr>
                        </a:gs>
                        <a:gs pos="50000">
                          <a:schemeClr val="accent1">
                            <a:tint val="20000"/>
                            <a:shade val="67500"/>
                            <a:satMod val="115000"/>
                          </a:schemeClr>
                        </a:gs>
                        <a:gs pos="100000">
                          <a:schemeClr val="accent1">
                            <a:tint val="20000"/>
                            <a:shade val="100000"/>
                            <a:satMod val="115000"/>
                          </a:schemeClr>
                        </a:gs>
                      </a:gsLst>
                      <a:lin ang="16200000" scaled="1"/>
                      <a:tileRect/>
                    </a:gradFill>
                  </a:tcPr>
                </a:tc>
                <a:tc>
                  <a:txBody>
                    <a:bodyPr/>
                    <a:lstStyle/>
                    <a:p>
                      <a:r>
                        <a:rPr lang="en-US" dirty="0" smtClean="0"/>
                        <a:t>         22</a:t>
                      </a:r>
                      <a:endParaRPr lang="en-US" dirty="0"/>
                    </a:p>
                  </a:txBody>
                  <a:tcPr>
                    <a:gradFill flip="none" rotWithShape="1">
                      <a:gsLst>
                        <a:gs pos="0">
                          <a:schemeClr val="accent1">
                            <a:tint val="20000"/>
                            <a:shade val="30000"/>
                            <a:satMod val="115000"/>
                          </a:schemeClr>
                        </a:gs>
                        <a:gs pos="50000">
                          <a:schemeClr val="accent1">
                            <a:tint val="20000"/>
                            <a:shade val="67500"/>
                            <a:satMod val="115000"/>
                          </a:schemeClr>
                        </a:gs>
                        <a:gs pos="100000">
                          <a:schemeClr val="accent1">
                            <a:tint val="20000"/>
                            <a:shade val="100000"/>
                            <a:satMod val="115000"/>
                          </a:schemeClr>
                        </a:gs>
                      </a:gsLst>
                      <a:lin ang="16200000" scaled="1"/>
                      <a:tileRect/>
                    </a:gradFill>
                  </a:tcPr>
                </a:tc>
                <a:tc>
                  <a:txBody>
                    <a:bodyPr/>
                    <a:lstStyle/>
                    <a:p>
                      <a:r>
                        <a:rPr lang="en-US" dirty="0" smtClean="0"/>
                        <a:t>          22</a:t>
                      </a:r>
                      <a:endParaRPr lang="en-US" dirty="0"/>
                    </a:p>
                  </a:txBody>
                  <a:tcPr>
                    <a:gradFill flip="none" rotWithShape="1">
                      <a:gsLst>
                        <a:gs pos="0">
                          <a:schemeClr val="accent1">
                            <a:tint val="20000"/>
                            <a:shade val="30000"/>
                            <a:satMod val="115000"/>
                          </a:schemeClr>
                        </a:gs>
                        <a:gs pos="50000">
                          <a:schemeClr val="accent1">
                            <a:tint val="20000"/>
                            <a:shade val="67500"/>
                            <a:satMod val="115000"/>
                          </a:schemeClr>
                        </a:gs>
                        <a:gs pos="100000">
                          <a:schemeClr val="accent1">
                            <a:tint val="20000"/>
                            <a:shade val="100000"/>
                            <a:satMod val="115000"/>
                          </a:schemeClr>
                        </a:gs>
                      </a:gsLst>
                      <a:lin ang="16200000" scaled="1"/>
                      <a:tileRect/>
                    </a:gradFill>
                  </a:tcPr>
                </a:tc>
              </a:tr>
            </a:tbl>
          </a:graphicData>
        </a:graphic>
      </p:graphicFrame>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latin typeface="Times New Roman" pitchFamily="18" charset="0"/>
                <a:cs typeface="Times New Roman" pitchFamily="18" charset="0"/>
              </a:rPr>
              <a:t>Discussion and Conclusion</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dirty="0"/>
              <a:t>According to </a:t>
            </a:r>
            <a:r>
              <a:rPr lang="en-US" sz="2000" dirty="0" smtClean="0"/>
              <a:t>previous </a:t>
            </a:r>
            <a:r>
              <a:rPr lang="en-US" sz="2000" dirty="0"/>
              <a:t>studies, almost all of them confirm that stress affects our performance. And the presence of anxiety and frustration in our subjects say that the employees are unable to focus on work because of stress.</a:t>
            </a:r>
          </a:p>
          <a:p>
            <a:r>
              <a:rPr lang="en-US" sz="2000" dirty="0"/>
              <a:t>Even though anxiety and frustration is moderate in our subjects, with a mean of 4 and 2.5 respectively, it still adversely affects their psychological and physical health and work performance</a:t>
            </a:r>
            <a:r>
              <a:rPr lang="en-US" sz="2000" dirty="0" smtClean="0"/>
              <a:t>.</a:t>
            </a:r>
          </a:p>
          <a:p>
            <a:r>
              <a:rPr lang="en-US" sz="2000" dirty="0" smtClean="0"/>
              <a:t>So in conclusion, from </a:t>
            </a:r>
            <a:r>
              <a:rPr lang="en-US" sz="2000" dirty="0"/>
              <a:t>this research, it was observed that there is moderate level of stress among the employees of  Patna University. The institute need to address this issue to optimize the well-being of its employees and overall system performance. Proper strategies need to be developed considering working hours, interpersonal relationship and supervision and participation of the employees in stress management can maybe helpful in coping with the stress.</a:t>
            </a:r>
          </a:p>
        </p:txBody>
      </p:sp>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800"/>
            <a:ext cx="8229600" cy="1143000"/>
          </a:xfrm>
        </p:spPr>
        <p:txBody>
          <a:bodyPr/>
          <a:lstStyle/>
          <a:p>
            <a:r>
              <a:rPr lang="en-US" b="1" dirty="0" smtClean="0">
                <a:latin typeface="Times New Roman" pitchFamily="18" charset="0"/>
                <a:cs typeface="Times New Roman" pitchFamily="18" charset="0"/>
              </a:rPr>
              <a:t>THANK YOU</a:t>
            </a:r>
            <a:endParaRPr lang="en-US" b="1" dirty="0">
              <a:latin typeface="Times New Roman" pitchFamily="18" charset="0"/>
              <a:cs typeface="Times New Roman" pitchFamily="18" charset="0"/>
            </a:endParaRPr>
          </a:p>
        </p:txBody>
      </p:sp>
    </p:spTree>
  </p:cSld>
  <p:clrMapOvr>
    <a:masterClrMapping/>
  </p:clrMapOvr>
  <p:transition>
    <p:dissolv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94</TotalTime>
  <Words>809</Words>
  <Application>Microsoft Office PowerPoint</Application>
  <PresentationFormat>On-screen Show (4:3)</PresentationFormat>
  <Paragraphs>96</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A STUDY OF LEVEL OF STRESS AMONG THE NON -                                                                                             TEACHING STAFF OF PATNA UNIVERSIY  </vt:lpstr>
      <vt:lpstr>Introduction</vt:lpstr>
      <vt:lpstr>Review of Literature</vt:lpstr>
      <vt:lpstr>Hypothesis</vt:lpstr>
      <vt:lpstr>Methodology</vt:lpstr>
      <vt:lpstr>Results</vt:lpstr>
      <vt:lpstr>Results</vt:lpstr>
      <vt:lpstr>Results</vt:lpstr>
      <vt:lpstr>Discussion and 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OF LEVEL OF STRESS AMONG THE NON -                                                                                             TEACHING STAFF OF PATNA UNIVERSIY</dc:title>
  <dc:creator>rajib</dc:creator>
  <cp:lastModifiedBy>rajib</cp:lastModifiedBy>
  <cp:revision>11</cp:revision>
  <dcterms:created xsi:type="dcterms:W3CDTF">2022-04-21T11:22:18Z</dcterms:created>
  <dcterms:modified xsi:type="dcterms:W3CDTF">2022-04-21T13:00:00Z</dcterms:modified>
</cp:coreProperties>
</file>